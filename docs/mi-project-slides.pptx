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6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Materials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87168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42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第一原理計算を、機械学習で代替する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無機半導体のゼーベック係数予測 — 15,479 材料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892040"/>
            <a:ext cx="1280160" cy="27940"/>
          </a:xfrm>
          <a:prstGeom prst="rect">
            <a:avLst/>
          </a:prstGeom>
          <a:solidFill>
            <a:srgbClr val="426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氏名・所属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1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データ: Materials Project / MPContribs carrier_transport (Ricci et al., Sci. Data 4, 170085, 2017, CC-BY 4.0)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30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熱電材料の探索は、計算コストで止まる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199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6289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1 材料の輸送物性を得るのに、DFT バンド構造計算 + BoltzTraP 輸送計算が必要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候補となる無機化合物は数万件 — 全部は回せない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→ 「計算する前に、有望なものを絞り込みたい」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アプローチ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30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すでに計算済みの 15,479 件から、予測モデルを学習する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199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6289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入力: 組成と、データベース登録値(バンドギャップ・密度・対称性)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出力: ゼーベック係数 S(p 型・n 型)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→ 高コスト計算の「代理モデル」として、スクリーニングを高速化する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パイプライン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30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一方向の 5 段構成 — 前段の出力だけが次段の入力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199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21408"/>
            <a:ext cx="10362895" cy="566928"/>
          </a:xfrm>
          <a:prstGeom prst="roundRect">
            <a:avLst>
              <a:gd name="adj" fmla="val 12000"/>
            </a:avLst>
          </a:prstGeom>
          <a:solidFill>
            <a:srgbClr val="F3F6FC"/>
          </a:solidFill>
          <a:ln w="9525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21408"/>
            <a:ext cx="64008" cy="566928"/>
          </a:xfrm>
          <a:prstGeom prst="rect">
            <a:avLst/>
          </a:prstGeom>
          <a:solidFill>
            <a:srgbClr val="426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121408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データ源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0632" y="2121408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16191F"/>
                </a:solidFill>
                <a:latin typeface="Consolas"/>
                <a:ea typeface="Consolas"/>
                <a:cs typeface="Consolas"/>
              </a:rPr>
              <a:t>MPContribs carrier_transport ＋ MP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2121408"/>
            <a:ext cx="3870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2 つのデータベース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2724912"/>
            <a:ext cx="164592" cy="109728"/>
          </a:xfrm>
          <a:prstGeom prst="downArrow">
            <a:avLst/>
          </a:prstGeom>
          <a:solidFill>
            <a:srgbClr val="C3C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871216"/>
            <a:ext cx="10362895" cy="566928"/>
          </a:xfrm>
          <a:prstGeom prst="roundRect">
            <a:avLst>
              <a:gd name="adj" fmla="val 12000"/>
            </a:avLst>
          </a:prstGeom>
          <a:solidFill>
            <a:srgbClr val="F3F6FC"/>
          </a:solidFill>
          <a:ln w="9525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871216"/>
            <a:ext cx="64008" cy="566928"/>
          </a:xfrm>
          <a:prstGeom prst="rect">
            <a:avLst/>
          </a:prstGeom>
          <a:solidFill>
            <a:srgbClr val="426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871216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取得・結合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871216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16191F"/>
                </a:solidFill>
                <a:latin typeface="Consolas"/>
                <a:ea typeface="Consolas"/>
                <a:cs typeface="Consolas"/>
              </a:rPr>
              <a:t>transport/get_transport_data.py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871216"/>
            <a:ext cx="3870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transport_dataset.csv — 15,479 材料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13551" y="3474720"/>
            <a:ext cx="164592" cy="109728"/>
          </a:xfrm>
          <a:prstGeom prst="downArrow">
            <a:avLst/>
          </a:prstGeom>
          <a:solidFill>
            <a:srgbClr val="C3C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621024"/>
            <a:ext cx="10362895" cy="566928"/>
          </a:xfrm>
          <a:prstGeom prst="roundRect">
            <a:avLst>
              <a:gd name="adj" fmla="val 12000"/>
            </a:avLst>
          </a:prstGeom>
          <a:solidFill>
            <a:srgbClr val="F3F6FC"/>
          </a:solidFill>
          <a:ln w="9525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621024"/>
            <a:ext cx="64008" cy="566928"/>
          </a:xfrm>
          <a:prstGeom prst="rect">
            <a:avLst/>
          </a:prstGeom>
          <a:solidFill>
            <a:srgbClr val="426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3621024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特徴量化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0632" y="3621024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16191F"/>
                </a:solidFill>
                <a:latin typeface="Consolas"/>
                <a:ea typeface="Consolas"/>
                <a:cs typeface="Consolas"/>
              </a:rPr>
              <a:t>transport/featurize.py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3621024"/>
            <a:ext cx="3870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features_dataset.csv — 145 次元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13551" y="4224528"/>
            <a:ext cx="164592" cy="109728"/>
          </a:xfrm>
          <a:prstGeom prst="downArrow">
            <a:avLst/>
          </a:prstGeom>
          <a:solidFill>
            <a:srgbClr val="C3C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4370832"/>
            <a:ext cx="10362895" cy="566928"/>
          </a:xfrm>
          <a:prstGeom prst="roundRect">
            <a:avLst>
              <a:gd name="adj" fmla="val 12000"/>
            </a:avLst>
          </a:prstGeom>
          <a:solidFill>
            <a:srgbClr val="F3F6FC"/>
          </a:solidFill>
          <a:ln w="9525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370832"/>
            <a:ext cx="64008" cy="566928"/>
          </a:xfrm>
          <a:prstGeom prst="rect">
            <a:avLst/>
          </a:prstGeom>
          <a:solidFill>
            <a:srgbClr val="426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370832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学習・評価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4370832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16191F"/>
                </a:solidFill>
                <a:latin typeface="Consolas"/>
                <a:ea typeface="Consolas"/>
                <a:cs typeface="Consolas"/>
              </a:rPr>
              <a:t>transport/train.py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4370832"/>
            <a:ext cx="3870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metrics.json ／ パリティ図 ／ SHAP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6013551" y="4974336"/>
            <a:ext cx="164592" cy="109728"/>
          </a:xfrm>
          <a:prstGeom prst="downArrow">
            <a:avLst/>
          </a:prstGeom>
          <a:solidFill>
            <a:srgbClr val="C3C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5120640"/>
            <a:ext cx="1036289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5120640"/>
            <a:ext cx="64008" cy="566928"/>
          </a:xfrm>
          <a:prstGeom prst="rect">
            <a:avLst/>
          </a:prstGeom>
          <a:solidFill>
            <a:srgbClr val="426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0432" y="5120640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可視化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0632" y="5120640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16191F"/>
                </a:solidFill>
                <a:latin typeface="Consolas"/>
                <a:ea typeface="Consolas"/>
                <a:cs typeface="Consolas"/>
              </a:rPr>
              <a:t>web/build_data.py → web/build_single.py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5120640"/>
            <a:ext cx="3870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ダッシュボード(単一 HTML)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989320"/>
            <a:ext cx="91741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各段は独立に再実行できる。中間 CSV とモデルはコードから再現できるため git には置かない。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データ構築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30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3 万件のうち、学習に使えたのは 1.5 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199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26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30,467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331720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MPContribs の非金属エントリ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81528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26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22,623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081528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現行の Materials Project と結合できたもの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31336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26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15,682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831336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安定相フィルタ E_hull ≤ 0.05 eV/atom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81144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30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15,479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581144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登録バンドギャップ &gt; 0  ← 学習データ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古典的な熱電材料(Bi₂Te₃・SnSe・Mg₂Si・ZrNiSn・CoSb₃)が残っていることを毎回自動確認している。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設計の要点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30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予測値のカスケードを、あえて禁止する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199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6289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特徴量のバンドギャップは、モデルの予測値ではなくデータベース登録値を使う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予測値を次段に渡すと、その誤差がそのまま下流に伝染する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精度が悪いとき「モデルが悪いのか、渡された入力が悪いのか」を切り分けられなくなる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→ 入力を登録値に固定し、各モデルを独立に評価できる状態を保つ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設計の要点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30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答えと同じ計算から出た量は、特徴量に入れない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199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6289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有効質量 m* は、目的変数とまったく同じ BoltzTraP 計算の産物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入れれば精度は上がる。ただしそれは「リーク」であって実力ではない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キャリア濃度も除外 — 全材料で 10¹⁸ cm⁻³ に固定され、情報量がゼロだから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→ 見かけの精度より、評価の健全さを優先する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30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未学習の 3,096 材料で R² = 0.70 / 0.73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199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55778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6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平均絶対誤差  49.4 µV/K(p 型) ／ 54.3 µV/K(n 型)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16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5-fold 交差検証 R² = 0.68 ± 0.03 — まぐれではない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16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ランダムフォレスト回帰(決定木 300 本)・80 : 20 分割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16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→ 計算を回さずに、有望な材料を絞り込める水準</a:t>
            </a:r>
          </a:p>
        </p:txBody>
      </p:sp>
      <p:pic>
        <p:nvPicPr>
          <p:cNvPr id="6" name="Picture 5" descr="parity_seebeck_p_uV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210312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19695" y="58704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横軸 = 計算値、縦軸 = 予測値(p 型)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発見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30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145 特徴量のうち、バンドギャップが単独 1 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199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登録バンドギャップ E_g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404872"/>
            <a:ext cx="5669280" cy="237744"/>
          </a:xfrm>
          <a:prstGeom prst="rect">
            <a:avLst/>
          </a:prstGeom>
          <a:solidFill>
            <a:srgbClr val="426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2331720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42.0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3522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構成元素の最低融点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008376"/>
            <a:ext cx="1506499" cy="237744"/>
          </a:xfrm>
          <a:prstGeom prst="rect">
            <a:avLst/>
          </a:prstGeom>
          <a:solidFill>
            <a:srgbClr val="D3D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31027" y="2935224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11.2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3872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最大電気陰性度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611880"/>
            <a:ext cx="1055487" cy="237744"/>
          </a:xfrm>
          <a:prstGeom prst="rect">
            <a:avLst/>
          </a:prstGeom>
          <a:solidFill>
            <a:srgbClr val="D3D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0015" y="3538728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7.8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空間群番号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4215384"/>
            <a:ext cx="663632" cy="237744"/>
          </a:xfrm>
          <a:prstGeom prst="rect">
            <a:avLst/>
          </a:prstGeom>
          <a:solidFill>
            <a:srgbClr val="D3D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8160" y="4142232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4.9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4573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最頻融点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818888"/>
            <a:ext cx="562118" cy="237744"/>
          </a:xfrm>
          <a:prstGeom prst="rect">
            <a:avLst/>
          </a:prstGeom>
          <a:solidFill>
            <a:srgbClr val="D3D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6646" y="4745736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4.2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91741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平均 |SHAP| 値(p 型・上位 5)。1 位は 2 位の 3.8 倍。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小さいギャップが S を抑制する向きに効いており、バイポーラ伝導の物理と整合する。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限界と次の一手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30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予測しているのは「実験値」ではなく「計算値」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199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6289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目的変数は GGA + BoltzTraP の計算値。GGA はバンドギャップを系統的に過小評価する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300 K・キャリア濃度 10¹⁸ cm⁻³ の 1 点に固定。温度依存性はまだ扱えていない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→ 次: 実験データセット(UCSB 熱電など)での検証と、温度依存への拡張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269D0"/>
                </a:solidFill>
                <a:latin typeface="BIZ UDGothic"/>
                <a:ea typeface="BIZ UDGothic"/>
                <a:cs typeface="BIZ UDGothic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3000" b="1">
                <a:solidFill>
                  <a:srgbClr val="16191F"/>
                </a:solidFill>
                <a:latin typeface="BIZ UDGothic"/>
                <a:ea typeface="BIZ UDGothic"/>
                <a:cs typeface="BIZ UDGothic"/>
              </a:rPr>
              <a:t>代理モデルを作り、物理の因果をデータで裏付けた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199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6289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15,479 材料 × 145 特徴量 → ゼーベック係数を R² 0.73 で予測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設計原則は 2 つ: 予測値のカスケード禁止と、リーク源の明示的な除外</a:t>
            </a:r>
          </a:p>
          <a:p>
            <a:pPr>
              <a:lnSpc>
                <a:spcPct val="135000"/>
              </a:lnSpc>
              <a:spcBef>
                <a:spcPts val="2000"/>
              </a:spcBef>
            </a:pPr>
            <a:r>
              <a:rPr sz="1800" b="0">
                <a:solidFill>
                  <a:srgbClr val="6B7280"/>
                </a:solidFill>
                <a:latin typeface="BIZ UDGothic"/>
                <a:ea typeface="BIZ UDGothic"/>
                <a:cs typeface="BIZ UDGothic"/>
              </a:rPr>
              <a:t>SHAP がバンドギャップを 1 位に選び、設計の出発点だった物理仮説を裏づけた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第一原理計算を、機械学習で代替する</dc:title>
  <dc:subject>無機半導体のゼーベック係数予測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